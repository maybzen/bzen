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48E6"/>
                </a:solidFill>
                <a:latin typeface="맑은 고딕"/>
              </a:rPr>
              <a:t>관리자용 · ADMIN</a:t>
            </a:r>
          </a:p>
          <a:p>
            <a:pPr>
              <a:spcBef>
                <a:spcPts val="1200"/>
              </a:spcBef>
            </a:pPr>
            <a:r>
              <a:rPr sz="4400" b="1">
                <a:solidFill>
                  <a:srgbClr val="FFFFFF"/>
                </a:solidFill>
                <a:latin typeface="맑은 고딕"/>
              </a:rPr>
              <a:t>비젠 인트라넷
관리자 이용 매뉴얼</a:t>
            </a:r>
          </a:p>
          <a:p>
            <a:pPr>
              <a:spcBef>
                <a:spcPts val="1800"/>
              </a:spcBef>
            </a:pPr>
            <a:r>
              <a:rPr sz="1800">
                <a:solidFill>
                  <a:srgbClr val="C3CAD6"/>
                </a:solidFill>
                <a:latin typeface="맑은 고딕"/>
              </a:rPr>
              <a:t>대상: 관리자  |  버전 1.2 (2026-10-12)  |  실화면은 원본 그대로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148E6"/>
                </a:solidFill>
                <a:latin typeface="맑은 고딕"/>
              </a:rPr>
              <a:t>전체 지도 — 메뉴 18개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장부 6 · 사업 3 · 인사관리 3 · 세금·정산 2 · 관리 4  (★ = 관리자 전용)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장부:  </a:t>
            </a:r>
            <a:r>
              <a:rPr sz="2000">
                <a:solidFill>
                  <a:srgbClr val="1B2436"/>
                </a:solidFill>
                <a:latin typeface="맑은 고딕"/>
              </a:rPr>
              <a:t>대시보드 / 매출 / 매입 / 수금관리 / 운영비 / 지출결의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사업:  </a:t>
            </a:r>
            <a:r>
              <a:rPr sz="2000">
                <a:solidFill>
                  <a:srgbClr val="1B2436"/>
                </a:solidFill>
                <a:latin typeface="맑은 고딕"/>
              </a:rPr>
              <a:t>프로젝트 / 거래처 / 고정비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인사관리:  </a:t>
            </a:r>
            <a:r>
              <a:rPr sz="2000">
                <a:solidFill>
                  <a:srgbClr val="1B2436"/>
                </a:solidFill>
                <a:latin typeface="맑은 고딕"/>
              </a:rPr>
              <a:t>구성원★ / 급여관리★ / 휴무대장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세금·정산:  </a:t>
            </a:r>
            <a:r>
              <a:rPr sz="2000">
                <a:solidFill>
                  <a:srgbClr val="1B2436"/>
                </a:solidFill>
                <a:latin typeface="맑은 고딕"/>
              </a:rPr>
              <a:t>세금관리 / 보고서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관리:  </a:t>
            </a:r>
            <a:r>
              <a:rPr sz="2000">
                <a:solidFill>
                  <a:srgbClr val="1B2436"/>
                </a:solidFill>
                <a:latin typeface="맑은 고딕"/>
              </a:rPr>
              <a:t>계정관리★ / 자금관리★ / 휴지통★ / 설정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직원은 설정 + 공통권한 메뉴만 보입니다. 대시보드·구성원·급여·계정·자금·휴지통은 관리자 전용입니다.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148E6"/>
                </a:solidFill>
                <a:latin typeface="맑은 고딕"/>
              </a:rPr>
              <a:t>1. 로그인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관리자 아이디는 이미 전달된 상태입니다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배포 주소 접속 → 전달받은 이메일·비밀번호로 로그인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오른쪽 위 이름 → 설정에서 비밀번호를 본인 것으로 변경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비밀번호 분실 시: 본인이 찾을 수 없음 → 계정관리에서 관리자가 재설정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마지막 관리자 1명은 권한을 내리거나 삭제할 수 없습니다.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148E6"/>
                </a:solidFill>
                <a:latin typeface="맑은 고딕"/>
              </a:rPr>
              <a:t>2. 계정관리 — 직원 승인·권한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관리 → 계정관리</a:t>
            </a:r>
          </a:p>
        </p:txBody>
      </p:sp>
      <p:pic>
        <p:nvPicPr>
          <p:cNvPr id="3" name="Picture 2" descr="real-admin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63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5568"/>
                </a:solidFill>
                <a:latin typeface="맑은 고딕"/>
              </a:rPr>
              <a:t>▲ 실제 화면 (원본 그대로, 마스킹만 적용)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① 계정 추가:  </a:t>
            </a:r>
            <a:r>
              <a:rPr sz="1600">
                <a:solidFill>
                  <a:srgbClr val="1B2436"/>
                </a:solidFill>
                <a:latin typeface="맑은 고딕"/>
              </a:rPr>
              <a:t>[+ 계정 추가] → 이름·이메일·비밀번호·역할·부서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② 가입 승인:  </a:t>
            </a:r>
            <a:r>
              <a:rPr sz="1600">
                <a:solidFill>
                  <a:srgbClr val="1B2436"/>
                </a:solidFill>
                <a:latin typeface="맑은 고딕"/>
              </a:rPr>
              <a:t>승인대기 행 → 수정 → 사용함 체크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③ 권한:  </a:t>
            </a:r>
            <a:r>
              <a:rPr sz="1600">
                <a:solidFill>
                  <a:srgbClr val="1B2436"/>
                </a:solidFill>
                <a:latin typeface="맑은 고딕"/>
              </a:rPr>
              <a:t>설정→직원 공통권한(전원) + 계정 수정→개별권한, 합집합 적용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④ 재설정:  </a:t>
            </a:r>
            <a:r>
              <a:rPr sz="1600">
                <a:solidFill>
                  <a:srgbClr val="1B2436"/>
                </a:solidFill>
                <a:latin typeface="맑은 고딕"/>
              </a:rPr>
              <a:t>행 버튼 [비밀번호 변경]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148E6"/>
                </a:solidFill>
                <a:latin typeface="맑은 고딕"/>
              </a:rPr>
              <a:t>3. 대시보드 — 회사 숫자 보기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장부 → 대시보드 (관리자 전용)</a:t>
            </a:r>
          </a:p>
        </p:txBody>
      </p:sp>
      <p:pic>
        <p:nvPicPr>
          <p:cNvPr id="3" name="Picture 2" descr="real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63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5568"/>
                </a:solidFill>
                <a:latin typeface="맑은 고딕"/>
              </a:rPr>
              <a:t>▲ 실제 화면 (원본 그대로, 마스킹만 적용)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B2436"/>
                </a:solidFill>
                <a:latin typeface="맑은 고딕"/>
              </a:rPr>
              <a:t>▪  기간: 이번 달 · 지난 달 · 이번 분기 · 분기선택 · 올해 · 직접선택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순매출액:  </a:t>
            </a:r>
            <a:r>
              <a:rPr sz="1600">
                <a:solidFill>
                  <a:srgbClr val="1B2436"/>
                </a:solidFill>
                <a:latin typeface="맑은 고딕"/>
              </a:rPr>
              <a:t>매출 공급가액 합계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영업이익:  </a:t>
            </a:r>
            <a:r>
              <a:rPr sz="1600">
                <a:solidFill>
                  <a:srgbClr val="1B2436"/>
                </a:solidFill>
                <a:latin typeface="맑은 고딕"/>
              </a:rPr>
              <a:t>순매출 − 매입 − 운영비 (부가세 제외)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부가세 납부예상:  </a:t>
            </a:r>
            <a:r>
              <a:rPr sz="1600">
                <a:solidFill>
                  <a:srgbClr val="1B2436"/>
                </a:solidFill>
                <a:latin typeface="맑은 고딕"/>
              </a:rPr>
              <a:t>매출세액 − 매입세액(매입+운영비)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436"/>
                </a:solidFill>
                <a:latin typeface="맑은 고딕"/>
              </a:rPr>
              <a:t>▪  12개월 추이 → 프로젝트별 수익 → 최근 지출결의 → 데이터점검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148E6"/>
                </a:solidFill>
                <a:latin typeface="맑은 고딕"/>
              </a:rPr>
              <a:t>4. 장부 입력 — 4개 화면 구조 동일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매출 · 매입 · 운영비 · 지출결의</a:t>
            </a:r>
          </a:p>
        </p:txBody>
      </p:sp>
      <p:pic>
        <p:nvPicPr>
          <p:cNvPr id="3" name="Picture 2" descr="real-admin-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63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5568"/>
                </a:solidFill>
                <a:latin typeface="맑은 고딕"/>
              </a:rPr>
              <a:t>▲ 매출 실제 화면 — 지출결의·운영비도 같은 모양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① 등록:  </a:t>
            </a:r>
            <a:r>
              <a:rPr sz="1600">
                <a:solidFill>
                  <a:srgbClr val="1B2436"/>
                </a:solidFill>
                <a:latin typeface="맑은 고딕"/>
              </a:rPr>
              <a:t>[등록] → 일자·거래처·항목·적요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② 금액:  </a:t>
            </a:r>
            <a:r>
              <a:rPr sz="1600">
                <a:solidFill>
                  <a:srgbClr val="1B2436"/>
                </a:solidFill>
                <a:latin typeface="맑은 고딕"/>
              </a:rPr>
              <a:t>공급가액+부가세 분리 입력, 합계 자동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③ 프로젝트:  </a:t>
            </a:r>
            <a:r>
              <a:rPr sz="1600">
                <a:solidFill>
                  <a:srgbClr val="1B2436"/>
                </a:solidFill>
                <a:latin typeface="맑은 고딕"/>
              </a:rPr>
              <a:t>지정하면 손익 자동집계, 직접 입력 없음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37C4"/>
                </a:solidFill>
                <a:latin typeface="맑은 고딕"/>
              </a:rPr>
              <a:t>④ 증빙:  </a:t>
            </a:r>
            <a:r>
              <a:rPr sz="1600">
                <a:solidFill>
                  <a:srgbClr val="1B2436"/>
                </a:solidFill>
                <a:latin typeface="맑은 고딕"/>
              </a:rPr>
              <a:t>파일당 20MB, 비공개 보관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436"/>
                </a:solidFill>
                <a:latin typeface="맑은 고딕"/>
              </a:rPr>
              <a:t>▪  원칙: 지출결의·운영비는 생길 때 바로 입력 (모아서 입력 금지)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148E6"/>
                </a:solidFill>
                <a:latin typeface="맑은 고딕"/>
              </a:rPr>
              <a:t>5. CSV 일괄등록 · 내보내기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엑셀에 정리해 둔 자료용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양식:  </a:t>
            </a:r>
            <a:r>
              <a:rPr sz="2000">
                <a:solidFill>
                  <a:srgbClr val="1B2436"/>
                </a:solidFill>
                <a:latin typeface="맑은 고딕"/>
              </a:rPr>
              <a:t>각 장부 → CSV 일괄등록 → 양식 다운로드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필수 열:  </a:t>
            </a:r>
            <a:r>
              <a:rPr sz="2000">
                <a:solidFill>
                  <a:srgbClr val="1B2436"/>
                </a:solidFill>
                <a:latin typeface="맑은 고딕"/>
              </a:rPr>
              <a:t>일자(YYYY-MM-DD) · 공급가액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선택 열:  </a:t>
            </a:r>
            <a:r>
              <a:rPr sz="2000">
                <a:solidFill>
                  <a:srgbClr val="1B2436"/>
                </a:solidFill>
                <a:latin typeface="맑은 고딕"/>
              </a:rPr>
              <a:t>거래처 · 항목 · 적요 · 부가세 · 결제수단 · 비고 · 프로젝트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프로젝트명은 등록된 이름과 정확히 일치해야 연결됩니다.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내보내기:  </a:t>
            </a:r>
            <a:r>
              <a:rPr sz="2000">
                <a:solidFill>
                  <a:srgbClr val="1B2436"/>
                </a:solidFill>
                <a:latin typeface="맑은 고딕"/>
              </a:rPr>
              <a:t>각 장부 → CSV 내보내기 / 보고서 → 요약·상세 CSV · 인쇄/PDF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148E6"/>
                </a:solidFill>
                <a:latin typeface="맑은 고딕"/>
              </a:rPr>
              <a:t>6. 프로젝트 · 수금 · 거래처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사업 메뉴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프로젝트:  </a:t>
            </a:r>
            <a:r>
              <a:rPr sz="2000">
                <a:solidFill>
                  <a:srgbClr val="1B2436"/>
                </a:solidFill>
                <a:latin typeface="맑은 고딕"/>
              </a:rPr>
              <a:t>먼저 등록(계약금액·기간·담당자) → 장부에서 지정 → 손익 자동집계. 삭제는 관리자만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수금관리:  </a:t>
            </a:r>
            <a:r>
              <a:rPr sz="2000">
                <a:solidFill>
                  <a:srgbClr val="1B2436"/>
                </a:solidFill>
                <a:latin typeface="맑은 고딕"/>
              </a:rPr>
              <a:t>[입금 등록] → 수금률·미수금 확인 (계약 공급가액 기준)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거래처:  </a:t>
            </a:r>
            <a:r>
              <a:rPr sz="2000">
                <a:solidFill>
                  <a:srgbClr val="1B2436"/>
                </a:solidFill>
                <a:latin typeface="맑은 고딕"/>
              </a:rPr>
              <a:t>등록·수정·서류첨부·중복 합치기 가능. 서류삭제는 관리자만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연도는 프로젝트를 고르는 기준, 카드 금액은 항상 전체기간 합계입니다.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148E6"/>
                </a:solidFill>
                <a:latin typeface="맑은 고딕"/>
              </a:rPr>
              <a:t>7. 자금관리 · 급여관리 · 구성원 ★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>관리자 전용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자금관리:  </a:t>
            </a:r>
            <a:r>
              <a:rPr sz="2000">
                <a:solidFill>
                  <a:srgbClr val="1B2436"/>
                </a:solidFill>
                <a:latin typeface="맑은 고딕"/>
              </a:rPr>
              <a:t>자금현황 [잔고 기록] / 법인카드 파일업로드 → 분류 → 일괄등록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급여관리:  </a:t>
            </a:r>
            <a:r>
              <a:rPr sz="2000">
                <a:solidFill>
                  <a:srgbClr val="1B2436"/>
                </a:solidFill>
                <a:latin typeface="맑은 고딕"/>
              </a:rPr>
              <a:t>급여대장 CSV → 귀속월(일한 달) 집계. 실제 지급총액 = 급여 실지급액 + 지출결의 / 장부 급여분은 실지급 − 지출결의로 기록(지결행과 중복방지)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구성원:  </a:t>
            </a:r>
            <a:r>
              <a:rPr sz="2000">
                <a:solidFill>
                  <a:srgbClr val="1B2436"/>
                </a:solidFill>
                <a:latin typeface="맑은 고딕"/>
              </a:rPr>
              <a:t>인라인 편집 → 일괄저장. 내부/외부협력/외부단기 구분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436"/>
                </a:solidFill>
                <a:latin typeface="맑은 고딕"/>
              </a:rPr>
              <a:t>▪  지급일 기준 현금흐름은 장부·대시보드(입력일 기준)에서 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148E6"/>
                </a:solidFill>
                <a:latin typeface="맑은 고딕"/>
              </a:rPr>
              <a:t>8. 세금 · 보고서 · 휴지통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세금관리:  </a:t>
            </a:r>
            <a:r>
              <a:rPr sz="2000">
                <a:solidFill>
                  <a:srgbClr val="1B2436"/>
                </a:solidFill>
                <a:latin typeface="맑은 고딕"/>
              </a:rPr>
              <a:t>연도 선택 → 부가세·원천세·4대보험·법인세 탭 → 체크·토글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보고서:  </a:t>
            </a:r>
            <a:r>
              <a:rPr sz="2000">
                <a:solidFill>
                  <a:srgbClr val="1B2436"/>
                </a:solidFill>
                <a:latin typeface="맑은 고딕"/>
              </a:rPr>
              <a:t>기간 선택 → 요약CSV / 상세CSV / 인쇄·PDF (임원 보고용)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A37C4"/>
                </a:solidFill>
                <a:latin typeface="맑은 고딕"/>
              </a:rPr>
              <a:t>휴지통 ★:  </a:t>
            </a:r>
            <a:r>
              <a:rPr sz="2000">
                <a:solidFill>
                  <a:srgbClr val="1B2436"/>
                </a:solidFill>
                <a:latin typeface="맑은 고딕"/>
              </a:rPr>
              <a:t>삭제된 장부·프로젝트 보관 → 복원·영구삭제. 영구삭제는 되돌릴 수 없음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148E6"/>
                </a:solidFill>
                <a:latin typeface="맑은 고딕"/>
              </a:rPr>
              <a:t>핵심 규칙 · FAQ · 배포 체크</a:t>
            </a:r>
          </a:p>
          <a:p>
            <a:r>
              <a:rPr sz="1600">
                <a:solidFill>
                  <a:srgbClr val="4A5568"/>
                </a:solidFill>
                <a:latin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37C4"/>
                </a:solidFill>
                <a:latin typeface="맑은 고딕"/>
              </a:rPr>
              <a:t>손익:  </a:t>
            </a:r>
            <a:r>
              <a:rPr sz="1800">
                <a:solidFill>
                  <a:srgbClr val="1B2436"/>
                </a:solidFill>
                <a:latin typeface="맑은 고딕"/>
              </a:rPr>
              <a:t>순매출액 − 매입 = 매출총이익 − 운영비 = 영업이익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37C4"/>
                </a:solidFill>
                <a:latin typeface="맑은 고딕"/>
              </a:rPr>
              <a:t>프로젝트 손익 0원:  </a:t>
            </a:r>
            <a:r>
              <a:rPr sz="1800">
                <a:solidFill>
                  <a:srgbClr val="1B2436"/>
                </a:solidFill>
                <a:latin typeface="맑은 고딕"/>
              </a:rPr>
              <a:t>장부 입력 시 프로젝트 지정 확인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37C4"/>
                </a:solidFill>
                <a:latin typeface="맑은 고딕"/>
              </a:rPr>
              <a:t>CSV 실패:  </a:t>
            </a:r>
            <a:r>
              <a:rPr sz="1800">
                <a:solidFill>
                  <a:srgbClr val="1B2436"/>
                </a:solidFill>
                <a:latin typeface="맑은 고딕"/>
              </a:rPr>
              <a:t>일자·공급가액 필수, 프로젝트명 일치 확인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37C4"/>
                </a:solidFill>
                <a:latin typeface="맑은 고딕"/>
              </a:rPr>
              <a:t>☐ 배포 체크:  </a:t>
            </a:r>
            <a:r>
              <a:rPr sz="1800">
                <a:solidFill>
                  <a:srgbClr val="1B2436"/>
                </a:solidFill>
                <a:latin typeface="맑은 고딕"/>
              </a:rPr>
              <a:t>관리자 2개 · 전 직원 승인 · 공통권한 · 프로젝트/거래처 등록 · 테스트 1건 입력→확인→삭제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